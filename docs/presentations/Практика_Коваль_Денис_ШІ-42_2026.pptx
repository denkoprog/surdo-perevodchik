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68" r:id="rId4"/>
    <p:sldId id="275" r:id="rId5"/>
    <p:sldId id="277" r:id="rId6"/>
    <p:sldId id="278" r:id="rId7"/>
    <p:sldId id="289" r:id="rId8"/>
    <p:sldId id="279" r:id="rId9"/>
    <p:sldId id="291" r:id="rId10"/>
    <p:sldId id="290" r:id="rId11"/>
    <p:sldId id="286" r:id="rId12"/>
    <p:sldId id="292" r:id="rId13"/>
    <p:sldId id="288" r:id="rId14"/>
    <p:sldId id="285" r:id="rId15"/>
    <p:sldId id="263" r:id="rId16"/>
    <p:sldId id="260" r:id="rId17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172"/>
  </p:normalViewPr>
  <p:slideViewPr>
    <p:cSldViewPr>
      <p:cViewPr varScale="1">
        <p:scale>
          <a:sx n="124" d="100"/>
          <a:sy n="124" d="100"/>
        </p:scale>
        <p:origin x="1408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E2908-BD1F-45E5-BF23-DFF8902C2298}" type="datetimeFigureOut">
              <a:rPr lang="uk-UA" smtClean="0"/>
              <a:pPr/>
              <a:t>24.04.26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BAFAF-69E0-4981-BE7B-FE84470F546C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457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898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111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293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843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477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374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0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526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6301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983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629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716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бл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Nulp logo ukr.jpg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86889"/>
            <a:ext cx="1137285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90055"/>
            <a:ext cx="1079500" cy="1079500"/>
          </a:xfrm>
          <a:prstGeom prst="rect">
            <a:avLst/>
          </a:prstGeom>
        </p:spPr>
      </p:pic>
      <p:pic>
        <p:nvPicPr>
          <p:cNvPr id="5" name="Рисунок 4" descr="Nulp logo ukr.jpg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6" y="75991"/>
            <a:ext cx="1137285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723" y="79157"/>
            <a:ext cx="1079500" cy="1079500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0" y="1064282"/>
            <a:ext cx="9144000" cy="125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5605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91775-20D5-44BA-9A08-8E87236C362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500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9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995" y="908720"/>
            <a:ext cx="8892480" cy="4104455"/>
          </a:xfrm>
        </p:spPr>
        <p:txBody>
          <a:bodyPr>
            <a:noAutofit/>
          </a:bodyPr>
          <a:lstStyle/>
          <a:p>
            <a:r>
              <a:rPr lang="uk-UA" sz="3800" b="1" dirty="0"/>
              <a:t>ПРЕЗЕНТАЦІЯ</a:t>
            </a:r>
            <a:br>
              <a:rPr lang="uk-UA" sz="3800" b="1" dirty="0"/>
            </a:br>
            <a:r>
              <a:rPr lang="uk-UA" sz="3800" b="1" dirty="0"/>
              <a:t>за результатами </a:t>
            </a:r>
            <a:br>
              <a:rPr lang="uk-UA" sz="3800" b="1" dirty="0"/>
            </a:br>
            <a:r>
              <a:rPr lang="uk-UA" sz="3800" b="1" dirty="0"/>
              <a:t>проходження практики за темою </a:t>
            </a:r>
            <a:br>
              <a:rPr lang="uk-UA" sz="3800" b="1" dirty="0"/>
            </a:br>
            <a:r>
              <a:rPr lang="uk-UA" sz="3800" b="1" dirty="0"/>
              <a:t>бакалаврської кваліфікаційної роботи</a:t>
            </a:r>
            <a:br>
              <a:rPr lang="ru-RU" sz="3800" b="1" dirty="0"/>
            </a:br>
            <a:r>
              <a:rPr lang="uk-UA" sz="3800" b="1" dirty="0"/>
              <a:t>студента групи ШІ-42</a:t>
            </a:r>
            <a:br>
              <a:rPr lang="uk-UA" sz="3800" b="1" dirty="0"/>
            </a:br>
            <a:r>
              <a:rPr lang="uk-UA" sz="3800" b="1" dirty="0"/>
              <a:t>Коваля Дениса</a:t>
            </a:r>
            <a:br>
              <a:rPr lang="uk-UA" sz="3800" b="1" dirty="0"/>
            </a:br>
            <a:endParaRPr lang="uk-UA" sz="3800" dirty="0"/>
          </a:p>
        </p:txBody>
      </p:sp>
      <p:pic>
        <p:nvPicPr>
          <p:cNvPr id="4" name="Рисунок 3" descr="Nulp logo ukr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1137285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138661"/>
            <a:ext cx="1079500" cy="1079500"/>
          </a:xfrm>
          <a:prstGeom prst="rect">
            <a:avLst/>
          </a:prstGeom>
        </p:spPr>
      </p:pic>
      <p:sp>
        <p:nvSpPr>
          <p:cNvPr id="6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7784" y="5013176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uk-UA" dirty="0">
                <a:solidFill>
                  <a:schemeClr val="tx1"/>
                </a:solidFill>
              </a:rPr>
              <a:t>Період проходження:</a:t>
            </a:r>
          </a:p>
          <a:p>
            <a:pPr algn="r"/>
            <a:r>
              <a:rPr lang="uk-UA" dirty="0">
                <a:solidFill>
                  <a:schemeClr val="tx1"/>
                </a:solidFill>
              </a:rPr>
              <a:t>початок « 20 » квітня 2026 р.</a:t>
            </a:r>
          </a:p>
          <a:p>
            <a:pPr algn="r"/>
            <a:r>
              <a:rPr lang="uk-UA" dirty="0">
                <a:solidFill>
                  <a:schemeClr val="tx1"/>
                </a:solidFill>
              </a:rPr>
              <a:t>завершення « 08 » травня 2026 р.</a:t>
            </a:r>
          </a:p>
          <a:p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7C536-8A5D-FF8D-3BB6-32730C2B7280}"/>
              </a:ext>
            </a:extLst>
          </p:cNvPr>
          <p:cNvSpPr txBox="1"/>
          <p:nvPr/>
        </p:nvSpPr>
        <p:spPr>
          <a:xfrm>
            <a:off x="-532435" y="26390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1828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51520" y="2060848"/>
            <a:ext cx="84249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Назва БКР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ru" sz="2400" dirty="0"/>
              <a:t>Система для автоматичної нормалізації суржику та діалектних форм української мови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Керівник роботи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Сивоконь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Олексій Олегович</a:t>
            </a:r>
          </a:p>
          <a:p>
            <a:pPr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475655" y="230832"/>
            <a:ext cx="640871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Вступна </a:t>
            </a:r>
          </a:p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загальна  інформація</a:t>
            </a:r>
          </a:p>
        </p:txBody>
      </p:sp>
    </p:spTree>
    <p:extLst>
      <p:ext uri="{BB962C8B-B14F-4D97-AF65-F5344CB8AC3E}">
        <p14:creationId xmlns:p14="http://schemas.microsoft.com/office/powerpoint/2010/main" val="283470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90558" y="1844824"/>
            <a:ext cx="896288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1400" b="1" dirty="0">
                <a:latin typeface="Times New Roman" pitchFamily="18" charset="0"/>
                <a:cs typeface="Times New Roman" pitchFamily="18" charset="0"/>
              </a:rPr>
              <a:t>Мета роботи</a:t>
            </a:r>
            <a:r>
              <a:rPr lang="uk-UA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" sz="1400" dirty="0"/>
              <a:t>розробка системи автоматичної нормалізації суржику та трьох регіональних різновидів (гуцульського, бойківського, закарпатського) до літературного стандарту сучасної української мови на основі нейронних моделей і підходів до роботи з малоресурсними даними.</a:t>
            </a:r>
            <a:endParaRPr lang="uk-UA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k-UA" sz="1400" b="1" dirty="0">
                <a:latin typeface="Times New Roman" pitchFamily="18" charset="0"/>
                <a:cs typeface="Times New Roman" pitchFamily="18" charset="0"/>
              </a:rPr>
              <a:t>Об’єкт дослідження: </a:t>
            </a:r>
            <a:r>
              <a:rPr lang="ru" sz="1400" dirty="0"/>
              <a:t>процес автоматичної нормалізації нелітературних форм сучасної української мови - суржику та регіональних різновидів.</a:t>
            </a:r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k-UA" sz="1400" b="1" dirty="0">
                <a:latin typeface="Times New Roman" pitchFamily="18" charset="0"/>
                <a:cs typeface="Times New Roman" pitchFamily="18" charset="0"/>
              </a:rPr>
              <a:t>Предмет дослідження: </a:t>
            </a:r>
            <a:r>
              <a:rPr lang="ru" sz="1400" dirty="0"/>
              <a:t>способи формування паралельних наборів даних для малоресурсних мовних варіантів, а також способи навчання перекладних нейронних моделей і великих мовних моделей для задачі нормалізації.</a:t>
            </a:r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k-UA" sz="1400" b="1" dirty="0">
                <a:latin typeface="Times New Roman" pitchFamily="18" charset="0"/>
                <a:cs typeface="Times New Roman" pitchFamily="18" charset="0"/>
              </a:rPr>
              <a:t>Практична цінність</a:t>
            </a:r>
            <a:r>
              <a:rPr lang="uk-UA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" sz="1400" dirty="0"/>
              <a:t>вебзастосунок «Лексикон», що нормалізує чотири різновиди української мови до літературного стандарту та підтримує голосове введення.</a:t>
            </a:r>
            <a:endParaRPr lang="uk-UA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k-UA" sz="1400" b="1" dirty="0">
                <a:latin typeface="Times New Roman" pitchFamily="18" charset="0"/>
                <a:cs typeface="Times New Roman" pitchFamily="18" charset="0"/>
              </a:rPr>
              <a:t>Наукова новизна (опційно, за наявності): </a:t>
            </a:r>
            <a:r>
              <a:rPr lang="ru" sz="1400" dirty="0"/>
              <a:t>уперше побудовано єдину систему нормалізації одночасно для суржику і трьох регіональних різновидів; для бойківського та закарпатського вперше сформовано публічні синтетичні паралельні набори даних; проведено порівняльне оцінювання перекладної моделі та великої мовної моделі на задачі багатодіалектної нормалізації.</a:t>
            </a:r>
            <a:endParaRPr lang="uk-UA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uk-UA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Загальна інформація</a:t>
            </a:r>
          </a:p>
        </p:txBody>
      </p:sp>
    </p:spTree>
    <p:extLst>
      <p:ext uri="{BB962C8B-B14F-4D97-AF65-F5344CB8AC3E}">
        <p14:creationId xmlns:p14="http://schemas.microsoft.com/office/powerpoint/2010/main" val="186707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Актуальність роботи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05779" y="1268760"/>
            <a:ext cx="874846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" sz="1400" dirty="0"/>
              <a:t>Галузь нормалізації діалектів і суржику - малоресурсна: для гуцульського існує лише один відкритий невеликий паралельний набір, для бойківського та закарпатського публічних паралельних даних немає взагалі, а для суржику немає усталеного стандарту розмітки. Наявні засоби або орієнтовані на виправлення граматичних помилок (</a:t>
            </a:r>
            <a:r>
              <a:rPr lang="en-US" sz="1400" dirty="0" err="1"/>
              <a:t>LanguageTool</a:t>
            </a:r>
            <a:r>
              <a:rPr lang="en-US" sz="1400" dirty="0"/>
              <a:t>, </a:t>
            </a:r>
            <a:r>
              <a:rPr lang="en-US" sz="1400" dirty="0" err="1"/>
              <a:t>OnlineCorrector</a:t>
            </a:r>
            <a:r>
              <a:rPr lang="en-US" sz="1400" dirty="0"/>
              <a:t>), </a:t>
            </a:r>
            <a:r>
              <a:rPr lang="ru" sz="1400" dirty="0"/>
              <a:t>або охоплюють лише один різновид (</a:t>
            </a:r>
            <a:r>
              <a:rPr lang="en-US" sz="1400" dirty="0" err="1"/>
              <a:t>Vuyko</a:t>
            </a:r>
            <a:r>
              <a:rPr lang="en-US" sz="1400" dirty="0"/>
              <a:t> Mistral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ru" sz="1400" dirty="0"/>
              <a:t>тільки гуцульський). Тому й експеримент: перевірити, чи можна з мінімумом ручної розмітки досягти якості кращої ніж відкриті ВММ, і водночас порівняти між собою два способи отримати синтетичні дані - правиловий через морфологічний аналізатор і генеративний через велику мовну модель.</a:t>
            </a:r>
            <a:endParaRPr lang="uk-UA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25872"/>
              </p:ext>
            </p:extLst>
          </p:nvPr>
        </p:nvGraphicFramePr>
        <p:xfrm>
          <a:off x="274493" y="2924943"/>
          <a:ext cx="8545980" cy="3691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2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5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8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Огляд наукових робіт,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обраних для використання у власному дослідженні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 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Назва та рік видання роботи</a:t>
                      </a:r>
                      <a:endParaRPr lang="uk-UA" sz="12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Що з даної публікації використано в БКР</a:t>
                      </a:r>
                      <a:endParaRPr lang="uk-UA" sz="12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Коментар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(за потреби)</a:t>
                      </a:r>
                      <a:endParaRPr lang="uk-UA" sz="12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/>
                        <a:t>Vuyko</a:t>
                      </a:r>
                      <a:r>
                        <a:rPr lang="en-US" sz="1200" dirty="0"/>
                        <a:t> Mistral: Adapting LLMs for Low-Resource Dialectal Translation, 2025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Підхід до донавчання великих мовних моделей для малоресурсного перекладу; паралельний набір для гуцульського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Найближча суміжна робота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5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2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/>
                        <a:t>Spivavtor</a:t>
                      </a:r>
                      <a:r>
                        <a:rPr lang="en-US" sz="1200" dirty="0"/>
                        <a:t>: Instruction-Tuned LLM for Ukrainian Text Editing, 2024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Літературні еталонні речення як джерело нормативного боку паралельного набору даних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Вхідні речення для генерування синтетики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MamayLM / From Bytes to Borsch (Gemma-3-4B), 2024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Базова декодерна велика мовна модель, адаптована до української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Основа другої моделі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4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/>
                        <a:t>UniMax</a:t>
                      </a:r>
                      <a:r>
                        <a:rPr lang="en-US" sz="1200" dirty="0"/>
                        <a:t>: Fairer and more Effective Language Sampling (umt5), 2023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Базова перекладна модель </a:t>
                      </a:r>
                      <a:r>
                        <a:rPr lang="en-US" sz="1200" dirty="0"/>
                        <a:t>umt5-base </a:t>
                      </a:r>
                      <a:r>
                        <a:rPr lang="ru" sz="1200" dirty="0"/>
                        <a:t>як кодер-декодерний варіант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Основа першої моделі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5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/>
                        <a:t>A Neural Machine Translation Model for Arabic Dialects (MTL), 2018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Принцип спільної моделі для кількох близькоспоріднених різновидів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Методичне джерело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13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Порівняння аналогів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425103"/>
              </p:ext>
            </p:extLst>
          </p:nvPr>
        </p:nvGraphicFramePr>
        <p:xfrm>
          <a:off x="251520" y="1628800"/>
          <a:ext cx="8640960" cy="4579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0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20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/>
                        <a:t>Vuyko</a:t>
                      </a:r>
                      <a:r>
                        <a:rPr lang="en-US" sz="1400" dirty="0"/>
                        <a:t> Mistral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/>
                        <a:t>Spivavtor</a:t>
                      </a:r>
                      <a:r>
                        <a:rPr lang="en-US" sz="1400" dirty="0"/>
                        <a:t> / UA-GEC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/>
                        <a:t>LanguageTool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/>
                        <a:t>OnlineCorrector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k-UA" sz="1400" dirty="0"/>
                        <a:t>ВММ</a:t>
                      </a:r>
                      <a:endParaRPr lang="uk-UA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 dirty="0"/>
                        <a:t>Нормалізація суржику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частково (виправлення русизмів як помилок)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частково (як помилки)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частково (як помилки)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 dirty="0">
                          <a:effectLst/>
                        </a:rPr>
                        <a:t>+ (слабкий нульшот)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/>
                        <a:t>Нормалізація регіональних різновидів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лише гуцульський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 dirty="0">
                          <a:effectLst/>
                        </a:rPr>
                        <a:t>+ (слабкий нульшот)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/>
                        <a:t>Відкритий паралельний набір даних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+ (гуцульський)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+ (UA-GEC, </a:t>
                      </a:r>
                      <a:r>
                        <a:rPr lang="ru" sz="1200">
                          <a:effectLst/>
                        </a:rPr>
                        <a:t>виправлення)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 dirty="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/>
                        <a:t>Голосове введення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+ (погано розуміє не норму)</a:t>
                      </a:r>
                      <a:endParaRPr lang="en-UA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/>
                        <a:t>Єдина модель для кількох різновидів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частково (узагальнена модель)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/>
                        <a:t>Перекладна постановка задачі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− (GEC)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− (GEC)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− (GEC)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 dirty="0">
                          <a:effectLst/>
                        </a:rPr>
                        <a:t>+ (через запит)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200" b="1"/>
                        <a:t>Вартість</a:t>
                      </a:r>
                      <a:endParaRPr lang="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відкритий код, безкоштовно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відкритий (дослідн.) / платний (</a:t>
                      </a:r>
                      <a:r>
                        <a:rPr lang="en-US" sz="1200">
                          <a:effectLst/>
                        </a:rPr>
                        <a:t>Grammarly)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безкоштовно / платно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>
                          <a:effectLst/>
                        </a:rPr>
                        <a:t>безкоштовно / платно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200" dirty="0">
                          <a:effectLst/>
                        </a:rPr>
                        <a:t>платно за запит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63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75655" y="230832"/>
            <a:ext cx="640871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Результати</a:t>
            </a:r>
          </a:p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по першому розділу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2068" y="2132856"/>
            <a:ext cx="871986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" sz="1600" b="1" dirty="0"/>
              <a:t>Отримано:</a:t>
            </a:r>
          </a:p>
          <a:p>
            <a:endParaRPr lang="ru" sz="1600" dirty="0"/>
          </a:p>
          <a:p>
            <a:r>
              <a:rPr lang="ru" sz="1600" dirty="0"/>
              <a:t>Проведено системний огляд галузі: задача поставлена як перетворення всередині однієї мови </a:t>
            </a:r>
            <a:r>
              <a:rPr lang="en-US" sz="1600" dirty="0"/>
              <a:t>-</a:t>
            </a:r>
            <a:r>
              <a:rPr lang="ru" sz="1600" dirty="0"/>
              <a:t> на перетині перекладу й виправлення граматики.</a:t>
            </a:r>
          </a:p>
          <a:p>
            <a:r>
              <a:rPr lang="ru" sz="1600" dirty="0"/>
              <a:t>Охарактеризовано лінгвістичні властивості чотирьох різновидів: гуцульський</a:t>
            </a:r>
            <a:r>
              <a:rPr lang="en-US" sz="1600" dirty="0"/>
              <a:t>, </a:t>
            </a:r>
            <a:r>
              <a:rPr lang="ru" sz="1600" dirty="0"/>
              <a:t>бойківський</a:t>
            </a:r>
            <a:r>
              <a:rPr lang="en-US" sz="1600" dirty="0"/>
              <a:t>, </a:t>
            </a:r>
            <a:r>
              <a:rPr lang="ru" sz="1600" dirty="0"/>
              <a:t>закарпатський</a:t>
            </a:r>
            <a:r>
              <a:rPr lang="en-US" sz="1600" dirty="0"/>
              <a:t>, </a:t>
            </a:r>
            <a:r>
              <a:rPr lang="ru" sz="1600" dirty="0"/>
              <a:t>суржик</a:t>
            </a:r>
            <a:r>
              <a:rPr lang="en-US" sz="1600" dirty="0"/>
              <a:t>.</a:t>
            </a:r>
            <a:endParaRPr lang="ru" sz="1600" dirty="0"/>
          </a:p>
          <a:p>
            <a:r>
              <a:rPr lang="ru" sz="1600" dirty="0"/>
              <a:t>Сформульовано підхід до</a:t>
            </a:r>
            <a:r>
              <a:rPr lang="en-US" sz="1600" dirty="0"/>
              <a:t> </a:t>
            </a:r>
            <a:r>
              <a:rPr lang="uk-UA" sz="1600" dirty="0"/>
              <a:t>отримання</a:t>
            </a:r>
            <a:r>
              <a:rPr lang="ru" sz="1600" dirty="0"/>
              <a:t> даних: напрямок «норма → нестандарт» (еталон гарантовано коректний), комбінація ручних анотацій та синтетичних прикладів.</a:t>
            </a:r>
          </a:p>
          <a:p>
            <a:r>
              <a:rPr lang="ru" sz="1600" dirty="0"/>
              <a:t>Обґрунтовано вибір базових моделей: </a:t>
            </a:r>
            <a:r>
              <a:rPr lang="en-US" sz="1600" dirty="0"/>
              <a:t>umt5-base (≈300 </a:t>
            </a:r>
            <a:r>
              <a:rPr lang="ru" sz="1600" dirty="0"/>
              <a:t>млн ваг) для перекладної постановки й</a:t>
            </a:r>
            <a:r>
              <a:rPr lang="en-US" sz="1600" dirty="0"/>
              <a:t> MamayLM (Gemma-3-4B, ≈4 </a:t>
            </a:r>
            <a:r>
              <a:rPr lang="ru" sz="1600" dirty="0"/>
              <a:t>млрд ваг) для інструкційного формату.</a:t>
            </a:r>
            <a:endParaRPr lang="en-US" sz="1600" dirty="0"/>
          </a:p>
          <a:p>
            <a:endParaRPr lang="ru" sz="1600" dirty="0"/>
          </a:p>
          <a:p>
            <a:r>
              <a:rPr lang="ru" sz="1600" b="1" dirty="0"/>
              <a:t>Відсоток виконання: 100%</a:t>
            </a:r>
            <a:r>
              <a:rPr lang="ru" sz="1600" dirty="0"/>
              <a:t> (обсяг розділу - 13 стор. за мін. 10).</a:t>
            </a:r>
          </a:p>
          <a:p>
            <a:pPr algn="just"/>
            <a:endParaRPr lang="uk-UA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64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81116" y="1268760"/>
            <a:ext cx="896288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" sz="1400" dirty="0"/>
              <a:t>В роботі вирішено задачу нормалізації суржику та трьох регіональних різновидів (гуцульського, бойківського, закарпатського) до літературної української мови.</a:t>
            </a:r>
          </a:p>
          <a:p>
            <a:endParaRPr lang="ru" sz="1400" dirty="0"/>
          </a:p>
          <a:p>
            <a:r>
              <a:rPr lang="ru" sz="1400" b="1" dirty="0"/>
              <a:t>Готові набори:</a:t>
            </a:r>
          </a:p>
          <a:p>
            <a:endParaRPr lang="ru" sz="1400" dirty="0"/>
          </a:p>
          <a:p>
            <a:r>
              <a:rPr lang="ru" sz="1400" dirty="0"/>
              <a:t>- «Співавтор» як джерело нормативних речень.</a:t>
            </a:r>
          </a:p>
          <a:p>
            <a:r>
              <a:rPr lang="ru" sz="1400" dirty="0"/>
              <a:t>- 9 853 ручні пари для гуцульського з відкритого джерела.</a:t>
            </a:r>
          </a:p>
          <a:p>
            <a:r>
              <a:rPr lang="uk-UA" sz="1400" dirty="0"/>
              <a:t>- Скановані версії паперових словників діалектів</a:t>
            </a:r>
            <a:endParaRPr lang="ru" sz="1400" dirty="0"/>
          </a:p>
          <a:p>
            <a:endParaRPr lang="ru" sz="1400" dirty="0"/>
          </a:p>
          <a:p>
            <a:r>
              <a:rPr lang="ru" sz="1400" b="1" dirty="0"/>
              <a:t>Власний набір (125 615 пар), як робився:</a:t>
            </a:r>
          </a:p>
          <a:p>
            <a:endParaRPr lang="ru" sz="1400" dirty="0"/>
          </a:p>
          <a:p>
            <a:r>
              <a:rPr lang="ru" sz="1400" b="1" dirty="0"/>
              <a:t>Правиловий конвеєр для суржику</a:t>
            </a:r>
            <a:r>
              <a:rPr lang="ru" sz="1400" dirty="0"/>
              <a:t> (20 911 пар): фразова заміна через регулярні вирази, далі пословна з лематизацією </a:t>
            </a:r>
            <a:r>
              <a:rPr lang="en-US" sz="1400" dirty="0"/>
              <a:t>pymorphy2 </a:t>
            </a:r>
            <a:r>
              <a:rPr lang="ru" sz="1400" dirty="0"/>
              <a:t>і узгодженням відмінка, роду, числа.</a:t>
            </a:r>
          </a:p>
          <a:p>
            <a:r>
              <a:rPr lang="ru" sz="1400" b="1" dirty="0"/>
              <a:t>Генеративний конвеєр для діалектів</a:t>
            </a:r>
            <a:r>
              <a:rPr lang="ru" sz="1400" dirty="0"/>
              <a:t> (108 812 пар): </a:t>
            </a:r>
            <a:r>
              <a:rPr lang="en-US" sz="1400" dirty="0"/>
              <a:t>TF-IDF </a:t>
            </a:r>
            <a:r>
              <a:rPr lang="ru" sz="1400" dirty="0"/>
              <a:t>добирає 10 найближчих словникових пар, запит до </a:t>
            </a:r>
            <a:r>
              <a:rPr lang="en-US" sz="1400" dirty="0"/>
              <a:t>Mistral-Small-24B </a:t>
            </a:r>
            <a:r>
              <a:rPr lang="ru" sz="1400" dirty="0"/>
              <a:t>пакетами по 5 речень, відповідь у </a:t>
            </a:r>
            <a:r>
              <a:rPr lang="en-US" sz="1400" dirty="0"/>
              <a:t>JSON. </a:t>
            </a:r>
            <a:r>
              <a:rPr lang="ru" sz="1400" dirty="0"/>
              <a:t>Контроль якості: подвійний розбір, відсів неповних, дедуплікація.</a:t>
            </a:r>
          </a:p>
          <a:p>
            <a:r>
              <a:rPr lang="ru" sz="1400" dirty="0"/>
              <a:t>Поділ 90/10 на навчання/перевірку. </a:t>
            </a:r>
          </a:p>
          <a:p>
            <a:r>
              <a:rPr lang="ru" sz="1400" b="1" dirty="0"/>
              <a:t>Тестовий набір 200 ручних пар</a:t>
            </a:r>
            <a:r>
              <a:rPr lang="ru" sz="1400" dirty="0"/>
              <a:t> (50 на різновид), без перетину з навчанням.</a:t>
            </a:r>
          </a:p>
          <a:p>
            <a:endParaRPr lang="ru" sz="1400" dirty="0"/>
          </a:p>
          <a:p>
            <a:r>
              <a:rPr lang="ru" sz="1400" b="1" dirty="0"/>
              <a:t>Базові моделі:</a:t>
            </a:r>
          </a:p>
          <a:p>
            <a:endParaRPr lang="ru" sz="1400" dirty="0"/>
          </a:p>
          <a:p>
            <a:r>
              <a:rPr lang="en-US" sz="1400" b="1" dirty="0"/>
              <a:t>umt5-base</a:t>
            </a:r>
            <a:r>
              <a:rPr lang="ru" sz="1400" dirty="0"/>
              <a:t>: повне донавчання, префікс різновиду у вході («Переклади з гуцульської: …»). Одна модель на всі 4 різновиди.</a:t>
            </a:r>
          </a:p>
          <a:p>
            <a:r>
              <a:rPr lang="en-US" sz="1400" b="1" dirty="0"/>
              <a:t>MamayLM </a:t>
            </a:r>
            <a:r>
              <a:rPr lang="ru" sz="1400" b="1" dirty="0"/>
              <a:t>на </a:t>
            </a:r>
            <a:r>
              <a:rPr lang="en-US" sz="1400" b="1" dirty="0"/>
              <a:t>Gemma-3-4B</a:t>
            </a:r>
            <a:r>
              <a:rPr lang="ru" sz="1400" dirty="0"/>
              <a:t>: </a:t>
            </a:r>
            <a:r>
              <a:rPr lang="en-US" sz="1400" dirty="0" err="1"/>
              <a:t>QLoRA</a:t>
            </a:r>
            <a:r>
              <a:rPr lang="en-US" sz="1400" dirty="0"/>
              <a:t>, </a:t>
            </a:r>
            <a:r>
              <a:rPr lang="ru" sz="1400" dirty="0"/>
              <a:t>базові ваги у 4 бітах, тренуються тільки поправки (</a:t>
            </a:r>
            <a:r>
              <a:rPr lang="en-US" sz="1400" dirty="0"/>
              <a:t>r=16, ≈13 </a:t>
            </a:r>
            <a:r>
              <a:rPr lang="ru" sz="1400" dirty="0"/>
              <a:t>млн ваг). Маркер різновиду у системній ролі.</a:t>
            </a:r>
          </a:p>
          <a:p>
            <a:endParaRPr lang="ru" sz="14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Вирішення задачі</a:t>
            </a:r>
          </a:p>
        </p:txBody>
      </p:sp>
    </p:spTree>
    <p:extLst>
      <p:ext uri="{BB962C8B-B14F-4D97-AF65-F5344CB8AC3E}">
        <p14:creationId xmlns:p14="http://schemas.microsoft.com/office/powerpoint/2010/main" val="610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Вирішення задачі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95933"/>
              </p:ext>
            </p:extLst>
          </p:nvPr>
        </p:nvGraphicFramePr>
        <p:xfrm>
          <a:off x="107504" y="1340768"/>
          <a:ext cx="8855670" cy="44947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7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7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290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Загальний підхід до реалізації  поставленої задачі</a:t>
                      </a:r>
                      <a:endParaRPr lang="uk-UA" sz="28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ДАНО: 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dirty="0"/>
                        <a:t>Ручний паралельний корпус для гуцульського, нормативні речення зі «Співавтора», </a:t>
                      </a:r>
                      <a:r>
                        <a:rPr lang="en-US" sz="1200" dirty="0"/>
                        <a:t>pdf</a:t>
                      </a:r>
                      <a:r>
                        <a:rPr lang="ru" sz="1200" dirty="0"/>
                        <a:t> словники діалектів та суржику</a:t>
                      </a:r>
                      <a:endParaRPr lang="uk-UA" sz="12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ЗНАЙТИ: 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b="1" dirty="0"/>
                        <a:t>Єдину систему</a:t>
                      </a:r>
                      <a:r>
                        <a:rPr lang="ru" sz="1200" dirty="0"/>
                        <a:t>, що нормалізує текст будь-якого з 4 різновидів до літературного стандарту.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31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РІШЕННЯ: 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uk-UA" sz="1200" b="1" dirty="0">
                          <a:latin typeface="Times New Roman" pitchFamily="18" charset="0"/>
                          <a:cs typeface="Times New Roman" pitchFamily="18" charset="0"/>
                        </a:rPr>
                        <a:t>Методи</a:t>
                      </a:r>
                      <a:r>
                        <a:rPr lang="uk-UA" sz="1200" dirty="0">
                          <a:latin typeface="Times New Roman" pitchFamily="18" charset="0"/>
                          <a:cs typeface="Times New Roman" pitchFamily="18" charset="0"/>
                        </a:rPr>
                        <a:t>, якими було вирішено: </a:t>
                      </a:r>
                    </a:p>
                    <a:p>
                      <a:r>
                        <a:rPr lang="uk-UA" sz="1200" dirty="0">
                          <a:latin typeface="Times New Roman" pitchFamily="18" charset="0"/>
                          <a:cs typeface="Times New Roman" pitchFamily="18" charset="0"/>
                        </a:rPr>
                        <a:t>синтетичне розширення даних, тренування моделей машинного перекладу, інженерія запитів</a:t>
                      </a:r>
                    </a:p>
                    <a:p>
                      <a:endParaRPr lang="uk-UA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uk-UA" sz="1200" b="1" dirty="0">
                          <a:latin typeface="Times New Roman" pitchFamily="18" charset="0"/>
                          <a:cs typeface="Times New Roman" pitchFamily="18" charset="0"/>
                        </a:rPr>
                        <a:t>Засоби</a:t>
                      </a:r>
                      <a:r>
                        <a:rPr lang="uk-UA" sz="1200" dirty="0">
                          <a:latin typeface="Times New Roman" pitchFamily="18" charset="0"/>
                          <a:cs typeface="Times New Roman" pitchFamily="18" charset="0"/>
                        </a:rPr>
                        <a:t>, якими було вирішено:</a:t>
                      </a:r>
                    </a:p>
                    <a:p>
                      <a:r>
                        <a:rPr lang="ru" sz="1200" i="1" dirty="0"/>
                        <a:t>Математичні:</a:t>
                      </a:r>
                      <a:r>
                        <a:rPr lang="ru" sz="1200" dirty="0"/>
                        <a:t> механізм уваги, крос-ентропія зі згладжуванням міток, низькорангова поправка </a:t>
                      </a:r>
                      <a:r>
                        <a:rPr lang="en-US" sz="1200" dirty="0"/>
                        <a:t>W' = W + BA, </a:t>
                      </a:r>
                      <a:r>
                        <a:rPr lang="ru" sz="1200" dirty="0"/>
                        <a:t>метрики </a:t>
                      </a:r>
                      <a:r>
                        <a:rPr lang="en-US" sz="1200" dirty="0"/>
                        <a:t>BLEU, </a:t>
                      </a:r>
                      <a:r>
                        <a:rPr lang="en-US" sz="1200" dirty="0" err="1"/>
                        <a:t>chrF</a:t>
                      </a:r>
                      <a:r>
                        <a:rPr lang="en-US" sz="1200" dirty="0"/>
                        <a:t>++, TER. </a:t>
                      </a:r>
                      <a:endParaRPr lang="uk-UA" sz="1200" dirty="0"/>
                    </a:p>
                    <a:p>
                      <a:r>
                        <a:rPr lang="ru" sz="1200" i="1" dirty="0"/>
                        <a:t>Технічні:</a:t>
                      </a:r>
                      <a:r>
                        <a:rPr lang="ru" sz="1200" dirty="0"/>
                        <a:t> </a:t>
                      </a:r>
                      <a:r>
                        <a:rPr lang="en-US" sz="1200" dirty="0" err="1"/>
                        <a:t>PyTorch</a:t>
                      </a:r>
                      <a:r>
                        <a:rPr lang="en-US" sz="1200" dirty="0"/>
                        <a:t>, Transformers, PEFT, TRL, </a:t>
                      </a:r>
                      <a:r>
                        <a:rPr lang="en-US" sz="1200" dirty="0" err="1"/>
                        <a:t>Unsloth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BitsAndBytes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SacreBLEU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NiceGUI</a:t>
                      </a:r>
                      <a:r>
                        <a:rPr lang="en-US" sz="1200" dirty="0"/>
                        <a:t> + </a:t>
                      </a:r>
                      <a:r>
                        <a:rPr lang="en-US" sz="1200" dirty="0" err="1"/>
                        <a:t>FastAPI</a:t>
                      </a:r>
                      <a:endParaRPr lang="uk-UA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8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РЕЗУЛЬТАТ: </a:t>
                      </a:r>
                      <a:endParaRPr lang="uk-UA" sz="12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" sz="1200" b="1" dirty="0"/>
                        <a:t>Вебзастосунок «Лексикон» </a:t>
                      </a:r>
                      <a:r>
                        <a:rPr lang="ru" sz="1200" dirty="0"/>
                        <a:t>з вибором одного з 4 різновидів, голосовим введенням і нормалізованим виходом.</a:t>
                      </a:r>
                      <a:endParaRPr lang="uk-UA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08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75655" y="230832"/>
            <a:ext cx="640871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Результати</a:t>
            </a:r>
          </a:p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по другому розділу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ADCED6-B549-5462-A835-E8F40C137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947652"/>
              </p:ext>
            </p:extLst>
          </p:nvPr>
        </p:nvGraphicFramePr>
        <p:xfrm>
          <a:off x="251522" y="4437112"/>
          <a:ext cx="8712963" cy="2042160"/>
        </p:xfrm>
        <a:graphic>
          <a:graphicData uri="http://schemas.openxmlformats.org/drawingml/2006/table">
            <a:tbl>
              <a:tblPr/>
              <a:tblGrid>
                <a:gridCol w="1244709">
                  <a:extLst>
                    <a:ext uri="{9D8B030D-6E8A-4147-A177-3AD203B41FA5}">
                      <a16:colId xmlns:a16="http://schemas.microsoft.com/office/drawing/2014/main" val="1483363242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664075234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366042314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3713017557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3160228639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4065315651"/>
                    </a:ext>
                  </a:extLst>
                </a:gridCol>
                <a:gridCol w="1244709">
                  <a:extLst>
                    <a:ext uri="{9D8B030D-6E8A-4147-A177-3AD203B41FA5}">
                      <a16:colId xmlns:a16="http://schemas.microsoft.com/office/drawing/2014/main" val="1120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Різновид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Ручні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Правилові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Навч.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Перев.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Тест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40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Гуцульський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9 853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19 841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26 725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2 969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5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Бойківський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29 754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26 778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dirty="0"/>
                        <a:t>2 976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755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Закарпатський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dirty="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29 605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26 644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2 961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59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Суржик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29 612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20 911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45 471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5 052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46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b="1"/>
                        <a:t>Разом</a:t>
                      </a:r>
                      <a:endParaRPr lang="ru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/>
                        <a:t>9 853</a:t>
                      </a:r>
                      <a:endParaRPr lang="en-UA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/>
                        <a:t>108 812</a:t>
                      </a:r>
                      <a:endParaRPr lang="en-UA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/>
                        <a:t>20 911</a:t>
                      </a:r>
                      <a:endParaRPr lang="en-UA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/>
                        <a:t>125 615</a:t>
                      </a:r>
                      <a:endParaRPr lang="en-UA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/>
                        <a:t>13 756</a:t>
                      </a:r>
                      <a:endParaRPr lang="en-UA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b="1" dirty="0"/>
                        <a:t>200</a:t>
                      </a:r>
                      <a:endParaRPr lang="en-UA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239617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5AC6A6E-C687-109C-5F47-215979AB4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2" y="1664836"/>
            <a:ext cx="856895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Отримано:</a:t>
            </a:r>
            <a:endParaRPr kumimoji="0" lang="uk-UA" altLang="en-UA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Сформульовано задачу як умовну ймовірність pθ(y|x, t), де t </a:t>
            </a:r>
            <a:r>
              <a:rPr kumimoji="0" lang="uk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різновид, закодований у системному маркері запиту</a:t>
            </a:r>
            <a:r>
              <a:rPr kumimoji="0" lang="uk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A" altLang="en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Описано математичну основу: механізм уваги, позиційне кодування (синусоїдальне для umt5-base, ротаційне RoPE для Gemma-3), крос-ентропія зі згладжуванням α=0.1, низькорангова поправка LoRA зі зменшенням тренованих ваг у понад 300 разів. </a:t>
            </a: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Обґрунтовано вибір метрик для задачі перекладу: </a:t>
            </a:r>
            <a:r>
              <a:rPr kumimoji="0" lang="en-UA" altLang="en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BLEU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(точність n-грамних збігів лексем), </a:t>
            </a:r>
            <a:r>
              <a:rPr kumimoji="0" lang="en-UA" altLang="en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chrF++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(символьна близькість </a:t>
            </a:r>
            <a:r>
              <a:rPr lang="uk-UA" altLang="en-UA" sz="1200" dirty="0">
                <a:latin typeface="Arial" panose="020B0604020202020204" pitchFamily="34" charset="0"/>
              </a:rPr>
              <a:t>-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важлива для флективної української), </a:t>
            </a:r>
            <a:r>
              <a:rPr kumimoji="0" lang="en-UA" altLang="en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(частка правок до еталону). Усі три метрики взаємодоповнюються й відповідають стандарту галузі машинного перекладу. </a:t>
            </a: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Описано стратегії розкодування: пошук з променем (B=4) для umt5-base; семплювання з температурою τ=0.1 та відсіканням top-k=25 для MamayLM. </a:t>
            </a: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Сформовано підсумковий набір даних</a:t>
            </a:r>
            <a:endParaRPr kumimoji="0" lang="uk-UA" altLang="en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uk-UA" altLang="en-UA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thai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Відсоток виконання: 100%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(обсяг розділу </a:t>
            </a:r>
            <a:r>
              <a:rPr kumimoji="0" lang="uk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A" altLang="en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17 стор. за мін. 15).</a:t>
            </a:r>
          </a:p>
        </p:txBody>
      </p:sp>
    </p:spTree>
    <p:extLst>
      <p:ext uri="{BB962C8B-B14F-4D97-AF65-F5344CB8AC3E}">
        <p14:creationId xmlns:p14="http://schemas.microsoft.com/office/powerpoint/2010/main" val="405156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0664" y="1772816"/>
            <a:ext cx="84186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" sz="1400" b="1" dirty="0"/>
              <a:t>Контекст зміни теми.</a:t>
            </a:r>
            <a:r>
              <a:rPr lang="ru" sz="1400" dirty="0"/>
              <a:t> Під час практики 2025 тема формулювалась як «автоматична граматична корекція (</a:t>
            </a:r>
            <a:r>
              <a:rPr lang="en-US" sz="1400" dirty="0"/>
              <a:t>GEC) </a:t>
            </a:r>
            <a:r>
              <a:rPr lang="ru" sz="1400" dirty="0"/>
              <a:t>та нормалізація суржику» з метриками точності, повноти, </a:t>
            </a:r>
            <a:r>
              <a:rPr lang="en-US" sz="1400" dirty="0"/>
              <a:t>F0.5. </a:t>
            </a:r>
            <a:r>
              <a:rPr lang="ru" sz="1400" dirty="0"/>
              <a:t>У БКР тему розширено до нормалізації суржику й трьох регіональних різновидів (гуцульського, бойківського, закарпатського). Задача стала перекладом всередині мови, тому метрики змінено на нативні для машинного перекладу: </a:t>
            </a:r>
            <a:r>
              <a:rPr lang="en-US" sz="1400" dirty="0"/>
              <a:t>BLEU, </a:t>
            </a:r>
            <a:r>
              <a:rPr lang="en-US" sz="1400" dirty="0" err="1"/>
              <a:t>chrF</a:t>
            </a:r>
            <a:r>
              <a:rPr lang="en-US" sz="1400" dirty="0"/>
              <a:t>++, TER.</a:t>
            </a:r>
            <a:endParaRPr lang="uk-UA" sz="1400" dirty="0"/>
          </a:p>
          <a:p>
            <a:endParaRPr lang="en-US" sz="1400" dirty="0"/>
          </a:p>
          <a:p>
            <a:r>
              <a:rPr lang="ru" sz="1400" b="1" dirty="0"/>
              <a:t>Гіпотеза 1 (2025):</a:t>
            </a:r>
            <a:r>
              <a:rPr lang="ru" sz="1400" dirty="0"/>
              <a:t> якщо зібрати корпус суржику з відкритих джерел і доповнити синтетикою, досягнеться точність ≥ 80%, повнота ≥ 70% у нормалізації суржику.</a:t>
            </a:r>
          </a:p>
          <a:p>
            <a:endParaRPr lang="ru" sz="1400" dirty="0"/>
          </a:p>
          <a:p>
            <a:r>
              <a:rPr lang="ru" sz="1400" b="1" dirty="0"/>
              <a:t>Переформульовано на нову систему метрик:</a:t>
            </a:r>
            <a:r>
              <a:rPr lang="ru" sz="1400" dirty="0"/>
              <a:t> комбінований набір даних для суржику дозволить донавченій моделі досягти </a:t>
            </a:r>
            <a:r>
              <a:rPr lang="en-US" sz="1400" dirty="0" err="1"/>
              <a:t>chrF</a:t>
            </a:r>
            <a:r>
              <a:rPr lang="en-US" sz="1400" dirty="0"/>
              <a:t>++ ≥ 85</a:t>
            </a:r>
            <a:r>
              <a:rPr lang="uk-UA" sz="1400" dirty="0"/>
              <a:t>%</a:t>
            </a:r>
            <a:r>
              <a:rPr lang="en-US" sz="1400" dirty="0"/>
              <a:t> </a:t>
            </a:r>
            <a:r>
              <a:rPr lang="ru" sz="1400" dirty="0"/>
              <a:t>на ручному тестовому наборі для суржику.</a:t>
            </a:r>
          </a:p>
          <a:p>
            <a:endParaRPr lang="ru" sz="1400" dirty="0"/>
          </a:p>
          <a:p>
            <a:r>
              <a:rPr lang="ru" sz="1400" b="1" dirty="0"/>
              <a:t>Результати на ручному тестовому наборі (</a:t>
            </a:r>
            <a:r>
              <a:rPr lang="en-US" sz="1400" b="1" dirty="0" err="1"/>
              <a:t>chrF</a:t>
            </a:r>
            <a:r>
              <a:rPr lang="en-US" sz="1400" b="1" dirty="0"/>
              <a:t>++ </a:t>
            </a:r>
            <a:r>
              <a:rPr lang="ru" sz="1400" b="1" dirty="0"/>
              <a:t>для суржику):</a:t>
            </a:r>
            <a:endParaRPr lang="ru" sz="1400" dirty="0"/>
          </a:p>
          <a:p>
            <a:r>
              <a:rPr lang="en-US" sz="1400" dirty="0"/>
              <a:t>umt5-base (</a:t>
            </a:r>
            <a:r>
              <a:rPr lang="ru" sz="1400" dirty="0"/>
              <a:t>власна): </a:t>
            </a:r>
            <a:r>
              <a:rPr lang="ru" sz="1400" b="1" dirty="0"/>
              <a:t>93.58</a:t>
            </a:r>
            <a:endParaRPr lang="ru" sz="1400" dirty="0"/>
          </a:p>
          <a:p>
            <a:r>
              <a:rPr lang="en-US" sz="1400" dirty="0"/>
              <a:t>MamayLM (</a:t>
            </a:r>
            <a:r>
              <a:rPr lang="ru" sz="1400" dirty="0"/>
              <a:t>власна): 91.22</a:t>
            </a:r>
          </a:p>
          <a:p>
            <a:r>
              <a:rPr lang="ru" sz="1400" dirty="0"/>
              <a:t>Поріг гіпотези: 85</a:t>
            </a:r>
          </a:p>
          <a:p>
            <a:endParaRPr lang="ru" sz="1400" dirty="0"/>
          </a:p>
          <a:p>
            <a:r>
              <a:rPr lang="ru" sz="1400" b="1" dirty="0"/>
              <a:t>Гіпотезу підтверджено.</a:t>
            </a:r>
            <a:r>
              <a:rPr lang="ru" sz="1400" dirty="0"/>
              <a:t> Обидві власні моделі перевищили поріг.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b="1" dirty="0">
                <a:latin typeface="Times New Roman" pitchFamily="18" charset="0"/>
                <a:cs typeface="Times New Roman" pitchFamily="18" charset="0"/>
              </a:rPr>
              <a:t>РЕЗУЛЬТАТИ </a:t>
            </a:r>
          </a:p>
        </p:txBody>
      </p:sp>
    </p:spTree>
    <p:extLst>
      <p:ext uri="{BB962C8B-B14F-4D97-AF65-F5344CB8AC3E}">
        <p14:creationId xmlns:p14="http://schemas.microsoft.com/office/powerpoint/2010/main" val="417947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A527-ADC7-DE3A-3274-50D78226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0F2B96-90F2-BF1E-33DD-4660D862A0DE}"/>
              </a:ext>
            </a:extLst>
          </p:cNvPr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b="1" dirty="0">
                <a:latin typeface="Times New Roman" pitchFamily="18" charset="0"/>
                <a:cs typeface="Times New Roman" pitchFamily="18" charset="0"/>
              </a:rPr>
              <a:t>РЕЗУЛЬТАТИ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7990CC-7A15-1F77-1E2E-A4FFAB2CF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85779"/>
              </p:ext>
            </p:extLst>
          </p:nvPr>
        </p:nvGraphicFramePr>
        <p:xfrm>
          <a:off x="611364" y="4527351"/>
          <a:ext cx="7886700" cy="2133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127549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970741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52616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dirty="0"/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Суржик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Гуцульський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09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umt5-base (</a:t>
                      </a:r>
                      <a:r>
                        <a:rPr lang="ru" sz="1400" b="1" dirty="0"/>
                        <a:t>власна)</a:t>
                      </a:r>
                      <a:endParaRPr lang="ru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b="1">
                          <a:effectLst/>
                        </a:rPr>
                        <a:t>93.58</a:t>
                      </a:r>
                      <a:endParaRPr lang="en-UA" sz="1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b="1">
                          <a:effectLst/>
                        </a:rPr>
                        <a:t>86.90</a:t>
                      </a:r>
                      <a:endParaRPr lang="en-UA" sz="1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7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MamayLM (</a:t>
                      </a:r>
                      <a:r>
                        <a:rPr lang="ru" sz="1400" dirty="0"/>
                        <a:t>власна)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91.22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74.02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69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GPT-4o (</a:t>
                      </a:r>
                      <a:r>
                        <a:rPr lang="ru" sz="1400" dirty="0"/>
                        <a:t>комерційна)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88.97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64.89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Gemini 2.0 Flash (</a:t>
                      </a:r>
                      <a:r>
                        <a:rPr lang="ru" sz="1400" dirty="0"/>
                        <a:t>комерційна)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dirty="0">
                          <a:effectLst/>
                        </a:rPr>
                        <a:t>86.67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65.34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108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Mistral Large (</a:t>
                      </a:r>
                      <a:r>
                        <a:rPr lang="ru" sz="1400" dirty="0"/>
                        <a:t>комерційна)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85.79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>
                          <a:effectLst/>
                        </a:rPr>
                        <a:t>63.18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4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MamayLM </a:t>
                      </a:r>
                      <a:r>
                        <a:rPr lang="ru" sz="1400"/>
                        <a:t>до донавчання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dirty="0">
                          <a:effectLst/>
                        </a:rPr>
                        <a:t>65.58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dirty="0">
                          <a:effectLst/>
                        </a:rPr>
                        <a:t>16.73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0594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3576A27E-F2DF-08BE-A44A-64B10DDEA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64" y="1304474"/>
            <a:ext cx="813729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Гіпотеза 2 (2025):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модель, донавчена на доменно-специфічних даних, продемонструє ≥ 20% кращу якість (F0.5) порівняно з LanguageTool та стандартними великими мовними моделями.</a:t>
            </a:r>
            <a:endParaRPr kumimoji="0" lang="uk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Переформульовано: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спеціалізоване донавчання перевищить комерційні великі мовні моделі (GPT-4o, Gemini 2.0 Flash, Mistral Large) на </a:t>
            </a:r>
            <a:r>
              <a:rPr kumimoji="0" lang="uk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пунктів chrF++ для суржику та гуцульського.</a:t>
            </a:r>
            <a:endParaRPr kumimoji="0" lang="uk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Результати (chrF++ на ручному тестовому наборі):</a:t>
            </a: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Перевага над найсильнішим</a:t>
            </a:r>
            <a:r>
              <a:rPr kumimoji="0" lang="uk-UA" altLang="en-UA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</a:t>
            </a:r>
            <a:r>
              <a:rPr kumimoji="0" lang="en-UA" altLang="en-UA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Суржик: +6.91 пункти chrF++ (93.58 проти 86.67).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Гуцульський: +21.56 пункти chrF++ (86.90 проти 65.34).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Приріст у самій MamayLM від донавчання: +25.64 на суржику, </a:t>
            </a:r>
            <a:r>
              <a:rPr kumimoji="0" lang="en-UA" altLang="en-UA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+57.29 на гуцульському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en-U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Гіпотезу підтверджено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різновидів з якісними навчальними даними. Перевага особливо виразна там, де є ручні анотації.</a:t>
            </a:r>
          </a:p>
        </p:txBody>
      </p:sp>
    </p:spTree>
    <p:extLst>
      <p:ext uri="{BB962C8B-B14F-4D97-AF65-F5344CB8AC3E}">
        <p14:creationId xmlns:p14="http://schemas.microsoft.com/office/powerpoint/2010/main" val="123161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b="1" dirty="0">
                <a:latin typeface="Times New Roman" pitchFamily="18" charset="0"/>
                <a:cs typeface="Times New Roman" pitchFamily="18" charset="0"/>
              </a:rPr>
              <a:t>РЕЗУЛЬТАТИ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82952A-A5A2-1875-3828-71F03780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89616"/>
              </p:ext>
            </p:extLst>
          </p:nvPr>
        </p:nvGraphicFramePr>
        <p:xfrm>
          <a:off x="736661" y="4192326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677491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03411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1483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dirty="0"/>
                        <a:t>Різновид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chrF++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Ручні дані у навчанні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28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dirty="0"/>
                        <a:t>Суржик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93.58 (umt5)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0 (правила + синтетика)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54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dirty="0"/>
                        <a:t>Гуцульський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86.90 (umt5)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9 853 пари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15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Бойківський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66.82 (MamayLM)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0 (лише синтетика)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9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/>
                        <a:t>Закарпатський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27.45 (umt5)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" sz="1400">
                          <a:effectLst/>
                        </a:rPr>
                        <a:t>0 (лише синтетика)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66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" sz="1400" b="1" dirty="0"/>
                        <a:t>Середнє</a:t>
                      </a:r>
                      <a:endParaRPr lang="ru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400" b="1">
                          <a:effectLst/>
                        </a:rPr>
                        <a:t>68.69</a:t>
                      </a:r>
                      <a:endParaRPr lang="en-UA" sz="1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A" sz="14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61482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F089B35-60BA-48D5-B7CC-B65FEFF49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63" y="1299226"/>
            <a:ext cx="78867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Гіпотеза 3 (2025):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комбінація синтетичних і реальних прикладів дозволить досягти загального GEC-показника F0.5 ≥ 75%, навіть за умов обмеженої кількості вручну анотованих даних (менше ніж 50 тис. пар «суржик → норма»).</a:t>
            </a:r>
            <a:endParaRPr kumimoji="0" lang="uk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Переформульовано на нову систему метрик: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комбінація синтетичних і реальних прикладів дозволить досягти середнього chrF++ ≥ 7</a:t>
            </a:r>
            <a:r>
              <a:rPr lang="uk-UA" altLang="en-UA" sz="1400" dirty="0">
                <a:latin typeface="Arial" panose="020B0604020202020204" pitchFamily="34" charset="0"/>
              </a:rPr>
              <a:t>5%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 4 різновидах одночасно за обмеженого обсягу ручної розмітки (менше 50 тис. пар).</a:t>
            </a:r>
            <a:endParaRPr kumimoji="0" lang="uk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Гіпотезу не підтверджено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(68.69 &lt; 7</a:t>
            </a:r>
            <a:r>
              <a:rPr kumimoji="0" lang="uk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Закарпатський тягне середнє вниз: лінгвістична відстань від норми найбільша, а навчальний корпус виключно синтетичний.</a:t>
            </a:r>
            <a:endParaRPr kumimoji="0" lang="uk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en-UA" sz="1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A" altLang="en-UA" sz="1400" b="1" dirty="0">
                <a:latin typeface="Arial" panose="020B0604020202020204" pitchFamily="34" charset="0"/>
              </a:rPr>
              <a:t>Результати по всіх різновидах (найкраща з двох власних моделей):</a:t>
            </a:r>
            <a:endParaRPr lang="uk-UA" altLang="en-UA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83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75655" y="230832"/>
            <a:ext cx="640871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Результати</a:t>
            </a:r>
          </a:p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по третьому розділу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20079" y="1697974"/>
            <a:ext cx="425192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" sz="1400" b="1" dirty="0"/>
              <a:t>Отримано:</a:t>
            </a:r>
          </a:p>
          <a:p>
            <a:endParaRPr lang="ru" sz="1400" dirty="0"/>
          </a:p>
          <a:p>
            <a:r>
              <a:rPr lang="ru" sz="1400" dirty="0"/>
              <a:t>Донавчено кодер-декодерну модель </a:t>
            </a:r>
            <a:r>
              <a:rPr lang="en-US" sz="1400" dirty="0"/>
              <a:t>umt5-base</a:t>
            </a:r>
          </a:p>
          <a:p>
            <a:r>
              <a:rPr lang="ru" sz="1400" dirty="0"/>
              <a:t>Донавчено декодерну велику мовну модель </a:t>
            </a:r>
            <a:r>
              <a:rPr lang="en-US" sz="1400" dirty="0"/>
              <a:t>MamayLM </a:t>
            </a:r>
            <a:r>
              <a:rPr lang="ru" sz="1400" dirty="0"/>
              <a:t>через </a:t>
            </a:r>
            <a:r>
              <a:rPr lang="en-US" sz="1400" dirty="0" err="1"/>
              <a:t>QLoRA</a:t>
            </a:r>
            <a:r>
              <a:rPr lang="ru" sz="1400" dirty="0"/>
              <a:t>.</a:t>
            </a:r>
          </a:p>
          <a:p>
            <a:r>
              <a:rPr lang="ru" sz="1400" dirty="0"/>
              <a:t>Проведено оцінювання на </a:t>
            </a:r>
            <a:r>
              <a:rPr lang="ru" sz="1400" b="1" dirty="0"/>
              <a:t>ручно зібраному тестовому наборі</a:t>
            </a:r>
            <a:r>
              <a:rPr lang="ru" sz="1400" dirty="0"/>
              <a:t> (200 прикладів) проти чотирьох базових ліній (</a:t>
            </a:r>
            <a:r>
              <a:rPr lang="en-US" sz="1400" dirty="0"/>
              <a:t>GPT-4o, Gemini 2.0 Flash, Mistral Large, MamayLM </a:t>
            </a:r>
            <a:r>
              <a:rPr lang="ru" sz="1400" dirty="0"/>
              <a:t>до донавчання).</a:t>
            </a:r>
          </a:p>
          <a:p>
            <a:r>
              <a:rPr lang="ru" sz="1400" dirty="0"/>
              <a:t>Реалізовано вебзастосунок «Лексикон»</a:t>
            </a:r>
            <a:r>
              <a:rPr lang="en-US" sz="1400" dirty="0"/>
              <a:t>: </a:t>
            </a:r>
            <a:r>
              <a:rPr lang="ru" sz="1400" dirty="0"/>
              <a:t>вибір одного з чотирьох різновидів, кнопка мікрофону для голосового введення через модель </a:t>
            </a:r>
            <a:r>
              <a:rPr lang="en-US" sz="1400" dirty="0" err="1"/>
              <a:t>speechbrain</a:t>
            </a:r>
            <a:r>
              <a:rPr lang="en-US" sz="1400" dirty="0"/>
              <a:t>/m-</a:t>
            </a:r>
            <a:r>
              <a:rPr lang="en-US" sz="1400" dirty="0" err="1"/>
              <a:t>ctc</a:t>
            </a:r>
            <a:r>
              <a:rPr lang="en-US" sz="1400" dirty="0"/>
              <a:t>-t-large</a:t>
            </a:r>
            <a:r>
              <a:rPr lang="ru" sz="1400" dirty="0"/>
              <a:t>.</a:t>
            </a:r>
          </a:p>
          <a:p>
            <a:endParaRPr lang="ru" sz="1400" dirty="0"/>
          </a:p>
          <a:p>
            <a:r>
              <a:rPr lang="ru" sz="1400" b="1" dirty="0"/>
              <a:t>Відсоток виконання: 100%</a:t>
            </a:r>
            <a:r>
              <a:rPr lang="ru" sz="1400" dirty="0"/>
              <a:t> (обсяг розділу - 16 стор. за мін. 15).</a:t>
            </a:r>
          </a:p>
          <a:p>
            <a:pPr algn="just"/>
            <a:endParaRPr lang="uk-UA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0B333-6DD0-1756-21D5-7F5A8C0E1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61" t="5343" r="20723" b="18569"/>
          <a:stretch>
            <a:fillRect/>
          </a:stretch>
        </p:blipFill>
        <p:spPr>
          <a:xfrm>
            <a:off x="4654915" y="2132856"/>
            <a:ext cx="4165557" cy="345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75655" y="230832"/>
            <a:ext cx="6408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400" dirty="0">
                <a:latin typeface="Times New Roman" pitchFamily="18" charset="0"/>
                <a:cs typeface="Times New Roman" pitchFamily="18" charset="0"/>
              </a:rPr>
              <a:t>КОРОТКІ ПІДСУМКИ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2EFB9-642F-35C4-8728-2D084A481572}"/>
              </a:ext>
            </a:extLst>
          </p:cNvPr>
          <p:cNvSpPr txBox="1"/>
          <p:nvPr/>
        </p:nvSpPr>
        <p:spPr>
          <a:xfrm>
            <a:off x="458416" y="1628800"/>
            <a:ext cx="82271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" sz="1600" b="1" dirty="0"/>
              <a:t>Як результати співвідносяться із завданнями.</a:t>
            </a:r>
          </a:p>
          <a:p>
            <a:endParaRPr lang="ru" sz="1600" dirty="0"/>
          </a:p>
          <a:p>
            <a:pPr>
              <a:buNone/>
            </a:pPr>
            <a:r>
              <a:rPr lang="ru" sz="1600" dirty="0"/>
              <a:t>Очікуване перевиконано на суржику (93.58 </a:t>
            </a:r>
            <a:r>
              <a:rPr lang="en-US" sz="1600" dirty="0" err="1"/>
              <a:t>chrF</a:t>
            </a:r>
            <a:r>
              <a:rPr lang="en-US" sz="1600" dirty="0"/>
              <a:t>++ </a:t>
            </a:r>
            <a:r>
              <a:rPr lang="ru" sz="1600" dirty="0"/>
              <a:t>проти 86.67 у </a:t>
            </a:r>
            <a:r>
              <a:rPr lang="en-US" sz="1600" dirty="0"/>
              <a:t>Gemini) </a:t>
            </a:r>
            <a:r>
              <a:rPr lang="ru" sz="1600" dirty="0"/>
              <a:t>і на гуцульському (86.90 проти 65.34). Систему з 4 різновидів і вебзастосунок «Лексикон» з голосовим введенням реалізовано.</a:t>
            </a:r>
          </a:p>
          <a:p>
            <a:pPr>
              <a:buNone/>
            </a:pPr>
            <a:endParaRPr lang="ru" sz="1600" dirty="0"/>
          </a:p>
          <a:p>
            <a:pPr>
              <a:buNone/>
            </a:pPr>
            <a:r>
              <a:rPr lang="ru" sz="1600" b="1" dirty="0"/>
              <a:t>2. Причини розбіжностей і запропоновані рішення.</a:t>
            </a:r>
          </a:p>
          <a:p>
            <a:pPr>
              <a:buNone/>
            </a:pPr>
            <a:endParaRPr lang="ru" sz="1600" dirty="0"/>
          </a:p>
          <a:p>
            <a:pPr>
              <a:buNone/>
            </a:pPr>
            <a:r>
              <a:rPr lang="ru" sz="1600" dirty="0"/>
              <a:t>Слабкі показники на бойківському (66.82) і закарпатському (27.45) пояснюються відсутністю ручних паралельних даних: корпус для них складається виключно зі синтетики від великої мовної моделі. Експеримент з двома підходами показав, що правиловий конвеєр з морфологічним аналізатором (для суржику) дає надійну якість навіть без ручних анотацій, а генеративна синтетика без ручної опори, ні. Але й складність мовної форми дуже впливає: суржик – легший ніж діалекти.</a:t>
            </a:r>
          </a:p>
          <a:p>
            <a:pPr>
              <a:buNone/>
            </a:pPr>
            <a:endParaRPr lang="ru" sz="1600" dirty="0"/>
          </a:p>
          <a:p>
            <a:pPr>
              <a:buNone/>
            </a:pPr>
            <a:r>
              <a:rPr lang="ru" sz="1600" dirty="0"/>
              <a:t>Запропоновані рішення: зібрати 5-10 тис. ручних пар для бойківського й закарпатського, донавчити модуль розпізнавання мовлення на діалектних аудіозаписах, розширити на інші різновиди.</a:t>
            </a:r>
          </a:p>
        </p:txBody>
      </p:sp>
    </p:spTree>
    <p:extLst>
      <p:ext uri="{BB962C8B-B14F-4D97-AF65-F5344CB8AC3E}">
        <p14:creationId xmlns:p14="http://schemas.microsoft.com/office/powerpoint/2010/main" val="404380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63688" y="1988840"/>
            <a:ext cx="59584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8000" dirty="0">
                <a:latin typeface="Times New Roman" pitchFamily="18" charset="0"/>
                <a:cs typeface="Times New Roman" pitchFamily="18" charset="0"/>
              </a:rPr>
              <a:t>Дякую</a:t>
            </a:r>
          </a:p>
          <a:p>
            <a:pPr algn="ctr"/>
            <a:r>
              <a:rPr lang="uk-UA" sz="8000" dirty="0">
                <a:latin typeface="Times New Roman" pitchFamily="18" charset="0"/>
                <a:cs typeface="Times New Roman" pitchFamily="18" charset="0"/>
              </a:rPr>
              <a:t>за увагу.</a:t>
            </a:r>
          </a:p>
        </p:txBody>
      </p:sp>
    </p:spTree>
    <p:extLst>
      <p:ext uri="{BB962C8B-B14F-4D97-AF65-F5344CB8AC3E}">
        <p14:creationId xmlns:p14="http://schemas.microsoft.com/office/powerpoint/2010/main" val="12192170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Макеты раскадровки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19496</TotalTime>
  <Words>2027</Words>
  <Application>Microsoft Macintosh PowerPoint</Application>
  <PresentationFormat>On-screen Show (4:3)</PresentationFormat>
  <Paragraphs>293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Тема Office</vt:lpstr>
      <vt:lpstr>Макеты раскадровки</vt:lpstr>
      <vt:lpstr>ПРЕЗЕНТАЦІЯ за результатами  проходження практики за темою  бакалаврської кваліфікаційної роботи студента групи ШІ-42 Коваля Дениса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за результатами проходження проектно-технологічної практики студента групи КН-</dc:title>
  <dc:creator>Olena_1</dc:creator>
  <cp:lastModifiedBy>Denys Koval</cp:lastModifiedBy>
  <cp:revision>64</cp:revision>
  <dcterms:created xsi:type="dcterms:W3CDTF">2020-09-30T12:41:22Z</dcterms:created>
  <dcterms:modified xsi:type="dcterms:W3CDTF">2026-05-07T19:20:49Z</dcterms:modified>
</cp:coreProperties>
</file>